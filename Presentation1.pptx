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259" r:id="rId4"/>
    <p:sldId id="260" r:id="rId5"/>
    <p:sldId id="293" r:id="rId6"/>
    <p:sldId id="261" r:id="rId7"/>
    <p:sldId id="294" r:id="rId8"/>
    <p:sldId id="262" r:id="rId9"/>
    <p:sldId id="263" r:id="rId10"/>
    <p:sldId id="295" r:id="rId11"/>
    <p:sldId id="264" r:id="rId12"/>
    <p:sldId id="265" r:id="rId13"/>
    <p:sldId id="296" r:id="rId14"/>
    <p:sldId id="297" r:id="rId15"/>
    <p:sldId id="266" r:id="rId16"/>
    <p:sldId id="267" r:id="rId17"/>
    <p:sldId id="268" r:id="rId18"/>
    <p:sldId id="269" r:id="rId19"/>
    <p:sldId id="257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58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91" r:id="rId37"/>
    <p:sldId id="286" r:id="rId38"/>
    <p:sldId id="300" r:id="rId39"/>
    <p:sldId id="290" r:id="rId40"/>
    <p:sldId id="287" r:id="rId41"/>
    <p:sldId id="292" r:id="rId42"/>
    <p:sldId id="288" r:id="rId43"/>
    <p:sldId id="298" r:id="rId44"/>
    <p:sldId id="299" r:id="rId45"/>
    <p:sldId id="30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69342-AC1E-3A44-4FB2-2EF1B134A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8148E-3498-1B85-AB7A-9A138FC23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4D68A-A972-09CC-A17E-F474B953E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81865-E37E-35E1-F0BE-EE49905B3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DE094-8197-CBDE-5AFA-D61C51FE2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45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0AA9E-735C-19AF-22D4-D342063C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98661-E639-A0D7-101B-581D0D6FF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10336-C4B4-F02F-6FC6-AA0ED4E5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8334A-FD2D-5F6B-93EB-28A86D94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ABB5-0F26-39CF-67F7-D5012496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87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998E1-3BCA-E238-1DB6-1C60A27E4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B8B69-E0F2-5454-FD0F-4EFC8C3D4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D58AB-C406-C5DF-B629-FABEFC3D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10AE7-C97A-D53B-ED0C-81BA81075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30022-BFB1-344D-9CAB-D4FDCA86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78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7B27-F430-75AF-8D8B-41F8A2DB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F56E7-12A5-8C7A-1D65-81DE8380B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D7BC6-FECD-87A0-BFC3-56C3E1736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71BC4-0B08-FEC7-AE79-C2730B29C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C5144-04FE-5062-CC34-D4C734C83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3D7A2-C0ED-F06F-1A62-8CBA3166F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958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5465C-FD2E-6AD0-BBD8-71A94E0AC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0AAC1-27B2-FB93-8F7D-C4B426FB2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33F10-FDED-9E1F-B036-BF997FC39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8ACF9-D092-267B-D759-8E4B27680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A5D6E-4C11-C528-8D8D-D80F137211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E1C70C-3574-CBD9-08EB-1D05F366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FB24B-369E-6204-7001-5A9E91F0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2E5272-A04B-9596-52EC-A88E1C72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302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072F6-1B60-A7C3-F036-D1437225B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D8FFF-DE61-9210-0EC9-77BB6E97B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B311C-2B24-ED0F-F5B5-E272F63A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BAE25-45C0-6D45-BADD-CF53BF75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232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BEA55-7741-7304-74B6-9586FA3DF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955D12-3C8B-CC7F-B820-6D4A2B3E3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4A3B3-3887-58C2-6A7B-2907ACDD7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58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58238-FAD8-B767-71BB-6569AF9F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9346B-C19B-4A40-75B6-38B496B19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CB473-B22E-2D35-7331-081D416F6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9C6C0-DDA6-76A4-1878-F33A033A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BACF1-954B-AD5E-F647-EF0C0A544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EC44A-F3D7-AC39-F2E7-D23D7807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73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E18AD-CF6C-9A8D-9959-2F2EC6004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5E77B4-1B5A-30AF-45A3-CAA9AC9E85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F5577-74CB-8DFE-0DD1-9D79BE35F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EE785-1B18-9289-77B6-E9CBA5C2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FF876-56C4-201A-DF50-ADAB05B92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8A6C5-A499-AD4E-5B48-D2E8E729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899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1C80-E8CA-5654-28C6-A696AE66B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65F3-02B8-3D17-7FAA-829002DC8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8ED17-E858-C5B9-3F05-6C1454440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1D20F-53F9-7D48-61FC-4D39EFC65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206FB-32F9-1711-FD29-38E441BD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58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775E06-AC85-9413-E328-7140C1BCA9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E3430D-2529-92F4-EACF-B6DBD5C5B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CBD0B-2691-75FB-1F99-587DFF96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84DF7-4EE6-B5E6-AFD6-5753A7071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478DE-8F43-9077-54AC-3C8E7F67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810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1BCE23-1470-5447-09C8-254051D4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227F4-1263-1079-7AF2-027F2DC96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644F7-1395-F40E-5810-6DDD58CA6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E5479C-B08A-4385-A8DB-4B1AC932F34D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17F94-ED97-461A-57A0-D201800A7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754D-4FD0-AC68-22C7-87FDE9D79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B4BEB-A1A4-4BBB-BC36-445C4CF50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5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E641-60AF-4597-3589-7AE436CD00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FedEx Logistics Optimization</a:t>
            </a:r>
            <a:br>
              <a:rPr lang="en-IN" dirty="0"/>
            </a:br>
            <a:r>
              <a:rPr lang="en-IN" dirty="0"/>
              <a:t>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8A608F-1610-7AFD-B30B-A13238BD7E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Analyzing</a:t>
            </a:r>
            <a:r>
              <a:rPr lang="en-IN" dirty="0"/>
              <a:t>  delivery delays and route performance across FedEx’s global network </a:t>
            </a:r>
          </a:p>
          <a:p>
            <a:r>
              <a:rPr lang="en-IN" sz="1600" dirty="0"/>
              <a:t>Prepared by : Rahul Kumar</a:t>
            </a:r>
          </a:p>
          <a:p>
            <a:r>
              <a:rPr lang="en-IN" sz="1600" dirty="0"/>
              <a:t>Tools: MYSQL, POWERBI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74588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85818-DFCA-3C9E-2866-A9F3703C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 fontScale="90000"/>
          </a:bodyPr>
          <a:lstStyle/>
          <a:p>
            <a:r>
              <a:rPr lang="en-IN" dirty="0"/>
              <a:t>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5C397-BD3A-5C68-3044-FEAA0776F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4730"/>
            <a:ext cx="10515600" cy="477223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   Five relational tables capturing FedEx's order-to-delivery pipeline  </a:t>
            </a:r>
          </a:p>
          <a:p>
            <a:pPr marL="0" indent="0">
              <a:buNone/>
            </a:pPr>
            <a:r>
              <a:rPr lang="en-US" dirty="0"/>
              <a:t>   (1,380 total records).</a:t>
            </a:r>
          </a:p>
          <a:p>
            <a:r>
              <a:rPr lang="en-US" b="1" dirty="0"/>
              <a:t>Shipments (1,000 rows)</a:t>
            </a:r>
            <a:r>
              <a:rPr lang="en-US" dirty="0"/>
              <a:t> — the central tracking table: pickup &amp; delivery timestamps, delivery status, delay hours, and delay reason.</a:t>
            </a:r>
          </a:p>
          <a:p>
            <a:r>
              <a:rPr lang="en-US" b="1" dirty="0"/>
              <a:t>Orders (300 rows)</a:t>
            </a:r>
            <a:r>
              <a:rPr lang="en-US" dirty="0"/>
              <a:t> — order-level details: order date, delivery type (Express/Standard), payment mode.</a:t>
            </a:r>
          </a:p>
          <a:p>
            <a:r>
              <a:rPr lang="en-US" b="1" dirty="0"/>
              <a:t>Routes (20 rows)</a:t>
            </a:r>
            <a:r>
              <a:rPr lang="en-US" dirty="0"/>
              <a:t> — source &amp; destination cities/countries, distance, and planned transit time.</a:t>
            </a:r>
          </a:p>
          <a:p>
            <a:r>
              <a:rPr lang="en-US" b="1" dirty="0"/>
              <a:t>Warehouses (10 rows)</a:t>
            </a:r>
            <a:r>
              <a:rPr lang="en-US" dirty="0"/>
              <a:t> — hub location and daily handling capacity.</a:t>
            </a:r>
          </a:p>
          <a:p>
            <a:r>
              <a:rPr lang="en-US" b="1" dirty="0"/>
              <a:t>Delivery Agents (50 rows)</a:t>
            </a:r>
            <a:r>
              <a:rPr lang="en-US" dirty="0"/>
              <a:t> — assigned zone, years of experience, and customer rating.</a:t>
            </a:r>
          </a:p>
          <a:p>
            <a:pPr marL="0" indent="0">
              <a:buNone/>
            </a:pPr>
            <a:r>
              <a:rPr lang="en-US" b="1" dirty="0"/>
              <a:t>Shipments is the central table — it links to Orders, Routes, Warehouses, and              Agents through their ID keys, which is what lets us analyze delay across every dimension.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625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E4DFDC-9B58-D031-9C89-D4BA72BBA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964" y="405532"/>
            <a:ext cx="8268854" cy="2276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15FF5A-C2BC-4DC9-660E-278BD0198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964" y="2824288"/>
            <a:ext cx="8221222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3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EBBAD-AA50-6B3C-4EC6-25411125D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55" y="232950"/>
            <a:ext cx="8335538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66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D4E528-BB0D-9A63-C764-1876016D7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70" y="1171727"/>
            <a:ext cx="8497486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08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D44591-A031-A164-2DF9-3DDE6C6FC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405" y="4266457"/>
            <a:ext cx="8345065" cy="2295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016B85-1798-F23D-CE8D-9844F84AC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405" y="142967"/>
            <a:ext cx="8945223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370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DB5325-295D-AB7A-30CD-30F86F2EA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1147444"/>
            <a:ext cx="8783276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11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8F6A6C-F057-0C7D-2384-00F929BC6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635" y="893029"/>
            <a:ext cx="8740730" cy="354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69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05DA62-36F7-7EB1-B439-FBAA48961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120" y="1085257"/>
            <a:ext cx="7154273" cy="468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9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D4692C-E7EA-98A6-9C99-D9040F528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658" y="967409"/>
            <a:ext cx="8632684" cy="455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94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564854-396A-C36E-D459-DF0D00E97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614" y="281247"/>
            <a:ext cx="7725853" cy="2581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88F170-B6D7-12BA-3EC6-911284B4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738" y="3995119"/>
            <a:ext cx="7659169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04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9B6134-2FFA-FA18-6896-F82A726B7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359" y="254663"/>
            <a:ext cx="8020624" cy="454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7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C1A453-1992-9CE3-A267-644B70615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678" y="1457050"/>
            <a:ext cx="8554644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75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B3FC27-9079-3245-33EE-BA5589CCC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205" y="1799997"/>
            <a:ext cx="7811590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94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E57C5C-7715-5A0A-0805-720048C5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223" y="829625"/>
            <a:ext cx="7935432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98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C2D676-248A-7413-BBDB-B43F52964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430" y="187281"/>
            <a:ext cx="8097380" cy="2851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FE0CDB-2347-2DF3-A825-3D60D3CFB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745" y="3819379"/>
            <a:ext cx="8345065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16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0B7281-0524-93BD-7A75-E1A439973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035" y="331318"/>
            <a:ext cx="8202170" cy="2172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FCFBA8-C065-F3FB-B542-A91873EEB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342" y="3052689"/>
            <a:ext cx="8438623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15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425A3-E856-EC09-BF72-65924AA89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872198"/>
            <a:ext cx="8516539" cy="527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41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E6DA6E4-B4B0-3AB4-4C02-BA32B164856C}"/>
              </a:ext>
            </a:extLst>
          </p:cNvPr>
          <p:cNvSpPr txBox="1"/>
          <p:nvPr/>
        </p:nvSpPr>
        <p:spPr>
          <a:xfrm>
            <a:off x="984739" y="5401994"/>
            <a:ext cx="104522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Route R019,R010 have the best efficiency yet its shipments are delayed . The Route design is perfect but execution completely fails . That is a pure operational problem. We should focus on scheduling , capacity and agent issue.</a:t>
            </a:r>
          </a:p>
          <a:p>
            <a:r>
              <a:rPr lang="en-IN" dirty="0"/>
              <a:t>Meanwhile R003,R0015 are both poorly designed and delayed , needing structural re-routing.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2A0045-4C43-6322-A813-544F95FFA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5" y="324460"/>
            <a:ext cx="12003175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06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8A1B7D-F9DA-9F93-E301-CF737D472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382" y="365875"/>
            <a:ext cx="8049748" cy="2553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E1CAE4-0AA8-7AB3-9371-BCEC368F0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099" y="3630350"/>
            <a:ext cx="8611802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341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65E0B-BC5C-F36D-BDB2-58EFAD322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731" y="157615"/>
            <a:ext cx="7811590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966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94ADB1-4E2C-BC25-AC58-E667B767B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572" y="207242"/>
            <a:ext cx="8992855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236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F5D1EC-110A-0E7F-9948-6148BB7B1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15" y="1304628"/>
            <a:ext cx="8383170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629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367A0-119F-7E24-2D26-B31BD1A55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057" y="351996"/>
            <a:ext cx="9154803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31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0FFA7E-1989-C669-6305-00F6CC9F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075" y="349684"/>
            <a:ext cx="8764223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45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223DBC-64ED-A3D1-BE4A-9B36B760C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83" y="446383"/>
            <a:ext cx="8659433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762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D917EC-13CA-363B-6149-56C581789A6B}"/>
              </a:ext>
            </a:extLst>
          </p:cNvPr>
          <p:cNvSpPr txBox="1"/>
          <p:nvPr/>
        </p:nvSpPr>
        <p:spPr>
          <a:xfrm flipH="1">
            <a:off x="1299842" y="2794112"/>
            <a:ext cx="96204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Based on the findings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Bottoms performers are rated higher than top performers and slightly less experienced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Neither rating nor experience predicts on time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Delays are definitely systematic</a:t>
            </a:r>
          </a:p>
          <a:p>
            <a:endParaRPr lang="en-IN" dirty="0"/>
          </a:p>
          <a:p>
            <a:r>
              <a:rPr lang="en-IN" dirty="0"/>
              <a:t>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 not invest in agent training or replacement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Investigate operational bottlenecks like routes , warehouses , expected transit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Recalibrate baseline expectations(if 80% of shipments are delayed network wide expected times are unrealistic)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221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50A243-186D-8372-A1C7-ADDFFE5C5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941" y="266735"/>
            <a:ext cx="9050013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896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314989-5DE6-4DD3-6C7A-480030540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993" y="242581"/>
            <a:ext cx="9050013" cy="33342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9FC8D0-A93C-D310-718F-1016942D8C82}"/>
              </a:ext>
            </a:extLst>
          </p:cNvPr>
          <p:cNvSpPr txBox="1"/>
          <p:nvPr/>
        </p:nvSpPr>
        <p:spPr>
          <a:xfrm>
            <a:off x="1570993" y="5036234"/>
            <a:ext cx="9050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route has a majority of shipments stuck in 'In Transit' or 'Returned' status. The network reliably </a:t>
            </a:r>
            <a:r>
              <a:rPr lang="en-US" i="1" dirty="0"/>
              <a:t>completes</a:t>
            </a:r>
            <a:r>
              <a:rPr lang="en-US" dirty="0"/>
              <a:t> deliveries — the problem is they arrive </a:t>
            </a:r>
            <a:r>
              <a:rPr lang="en-US" i="1" dirty="0"/>
              <a:t>late</a:t>
            </a:r>
            <a:r>
              <a:rPr lang="en-US" dirty="0"/>
              <a:t>, not that they fail to arrive.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060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ED9360-F843-88CA-2783-ED799A026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1576129"/>
            <a:ext cx="8869013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339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B2430-352C-E1F1-5FEF-73B29CDAE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941" y="590843"/>
            <a:ext cx="9088118" cy="423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26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D6395B-FD30-9B7E-720F-E7209683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10" y="1014075"/>
            <a:ext cx="7192379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594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65CC3F-64C8-441E-8AA7-05174BC49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126" y="998806"/>
            <a:ext cx="7687748" cy="393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016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D7A75D-BAA3-6B14-126A-3D8EF667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05" y="1766655"/>
            <a:ext cx="7087589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097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58C626-F90F-3FBF-F680-BB13547DD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968" y="1247470"/>
            <a:ext cx="7802064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569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E9AB0F-A034-AF51-C3E5-44857A16D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09" y="583097"/>
            <a:ext cx="9568069" cy="561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914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128F9D-1565-ACE8-A1F3-0C8315BE2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3" y="244030"/>
            <a:ext cx="10193173" cy="4382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009EAA-BF3C-5CA6-6A2F-B1E985BE111D}"/>
              </a:ext>
            </a:extLst>
          </p:cNvPr>
          <p:cNvSpPr txBox="1"/>
          <p:nvPr/>
        </p:nvSpPr>
        <p:spPr>
          <a:xfrm>
            <a:off x="1113182" y="5817704"/>
            <a:ext cx="8905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High efficiency route still has &gt; 95% delay that means routing efficiency is not the cause , the delays are affecting the entire system.</a:t>
            </a:r>
          </a:p>
        </p:txBody>
      </p:sp>
    </p:spTree>
    <p:extLst>
      <p:ext uri="{BB962C8B-B14F-4D97-AF65-F5344CB8AC3E}">
        <p14:creationId xmlns:p14="http://schemas.microsoft.com/office/powerpoint/2010/main" val="2063458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839DC7-A385-8E3C-DA09-0F1E75DDF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93" y="1171260"/>
            <a:ext cx="9231013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837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DCD45E-2C21-2C15-4C0B-977DCE3D6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615" y="513521"/>
            <a:ext cx="8558769" cy="609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5470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28654-8007-8150-FE37-832E9A383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56" y="373145"/>
            <a:ext cx="10126488" cy="2772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02F3F5-1BE6-2E20-1624-2B33F4E9DFA4}"/>
              </a:ext>
            </a:extLst>
          </p:cNvPr>
          <p:cNvSpPr txBox="1"/>
          <p:nvPr/>
        </p:nvSpPr>
        <p:spPr>
          <a:xfrm>
            <a:off x="1404730" y="3922643"/>
            <a:ext cx="9356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 warehouse exceeds 12% on time delivery despite running under 11% capacity.</a:t>
            </a:r>
          </a:p>
          <a:p>
            <a:r>
              <a:rPr lang="en-IN" dirty="0"/>
              <a:t>The problem is not warehouse throughput , it is what happens after dispatch.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5525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7B8B49A-BDCE-A84B-57A9-B1C30FA91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49" y="410817"/>
            <a:ext cx="9727094" cy="529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482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271995F-EC7D-1B1B-7CC7-E0F17B3EA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335" y="1066470"/>
            <a:ext cx="8983329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513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AF3AFC-5321-CE64-440F-152D1486B780}"/>
              </a:ext>
            </a:extLst>
          </p:cNvPr>
          <p:cNvSpPr txBox="1"/>
          <p:nvPr/>
        </p:nvSpPr>
        <p:spPr>
          <a:xfrm>
            <a:off x="755374" y="516835"/>
            <a:ext cx="10760765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Key Insights </a:t>
            </a:r>
          </a:p>
          <a:p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Only </a:t>
            </a:r>
            <a:r>
              <a:rPr lang="en-US" sz="2000" b="1" dirty="0"/>
              <a:t>6%</a:t>
            </a:r>
            <a:r>
              <a:rPr lang="en-US" sz="2000" dirty="0"/>
              <a:t> of shipments arrive on time — a near-total breakdown of on-time delivery.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network runs a </a:t>
            </a:r>
            <a:r>
              <a:rPr lang="en-US" sz="2000" b="1" dirty="0"/>
              <a:t>94% delay rate</a:t>
            </a:r>
            <a:r>
              <a:rPr lang="en-US" sz="2000" dirty="0"/>
              <a:t> — systemic, not isolated to a few routes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Express deliveries are slower than Standard</a:t>
            </a:r>
            <a:r>
              <a:rPr lang="en-US" dirty="0"/>
              <a:t> (22.5h vs 20.9h avg delay) — the premium option underperforms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Bottom-5 agents are rated higher than the Top 5 with nearly identical experience</a:t>
            </a:r>
            <a:r>
              <a:rPr lang="en-US" dirty="0"/>
              <a:t> — neither rating nor seniority predicts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warehouse exceeds 12% on-time delivery</a:t>
            </a:r>
            <a:r>
              <a:rPr lang="en-US" dirty="0"/>
              <a:t>, despite all running under 11% of capacity.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Actual transit time exceeds planned time on all 20 routes</a:t>
            </a:r>
            <a:r>
              <a:rPr lang="en-US" dirty="0"/>
              <a:t> — expected times are unrealistic network-wide.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Traffic accounts for 51.8% of all delay hours</a:t>
            </a:r>
            <a:r>
              <a:rPr lang="en-US" dirty="0"/>
              <a:t> — congestion is the single biggest lever.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7369861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C89677-240A-A9D7-5785-BF525558A7C6}"/>
              </a:ext>
            </a:extLst>
          </p:cNvPr>
          <p:cNvSpPr txBox="1"/>
          <p:nvPr/>
        </p:nvSpPr>
        <p:spPr>
          <a:xfrm>
            <a:off x="1073426" y="1510748"/>
            <a:ext cx="999213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Recommendation 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Recalibrate expected transit times across the network</a:t>
            </a:r>
            <a:r>
              <a:rPr lang="en-US" sz="2000" dirty="0"/>
              <a:t> — actual transit runs ~2.2× the planned time on all 20 routes, so the current baselines are unachievable and distort every other KPI. Fix the targets first.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Investigate the highest-delay origin countries</a:t>
            </a:r>
            <a:r>
              <a:rPr lang="en-US" sz="2000" dirty="0"/>
              <a:t> (UAE, Turkey, China, Singapore) — these origins show 3–4× the delay of the best performers (UAE 41h vs Canada 10h).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Redesign the 3 structurally weakest routes</a:t>
            </a:r>
            <a:r>
              <a:rPr lang="en-US" sz="2000" dirty="0"/>
              <a:t> (R003, R015, R006) — lowest distance-to-time efficiency and heavily delayed.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Do not invest in agent training or replacement</a:t>
            </a:r>
            <a:r>
              <a:rPr lang="en-US" sz="2000" dirty="0"/>
              <a:t> — agent rating and experience show no link to on-time performance.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Capture where delays occur</a:t>
            </a:r>
            <a:r>
              <a:rPr lang="en-US" sz="2000" dirty="0"/>
              <a:t> (air, customs, or last-mile) — the data logs "Traffic" as the top cause (51.8% of delay hours) but not its location, so we can’t fix it until we know where it is happening.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/>
              <a:t>Investigate operational throughput at the worst warehouses</a:t>
            </a:r>
            <a:r>
              <a:rPr lang="en-US" sz="2000" dirty="0"/>
              <a:t> (W004, W003, W008) — though note all warehouses underperform, so the real problem is the unrealistic expected times across the whole network.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36753562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9DD18F-8775-9F48-C50B-E30DFE613BC8}"/>
              </a:ext>
            </a:extLst>
          </p:cNvPr>
          <p:cNvSpPr txBox="1"/>
          <p:nvPr/>
        </p:nvSpPr>
        <p:spPr>
          <a:xfrm>
            <a:off x="1179443" y="914400"/>
            <a:ext cx="9422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Video Presentation Link</a:t>
            </a:r>
          </a:p>
          <a:p>
            <a:r>
              <a:rPr lang="en-IN" dirty="0"/>
              <a:t>https://drive.google.com/file/d/1H4lXWbWKn3K5LXg0WKLbUIbQXHPaAG9Z/view?usp=sharing</a:t>
            </a:r>
          </a:p>
        </p:txBody>
      </p:sp>
    </p:spTree>
    <p:extLst>
      <p:ext uri="{BB962C8B-B14F-4D97-AF65-F5344CB8AC3E}">
        <p14:creationId xmlns:p14="http://schemas.microsoft.com/office/powerpoint/2010/main" val="3010855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11427</TotalTime>
  <Words>733</Words>
  <Application>Microsoft Office PowerPoint</Application>
  <PresentationFormat>Widescreen</PresentationFormat>
  <Paragraphs>59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Office Theme</vt:lpstr>
      <vt:lpstr>FedEx Logistics Optimization Analysis</vt:lpstr>
      <vt:lpstr> Dataset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kumar</dc:creator>
  <cp:lastModifiedBy>rahul kumar</cp:lastModifiedBy>
  <cp:revision>11</cp:revision>
  <dcterms:created xsi:type="dcterms:W3CDTF">2026-06-06T08:32:48Z</dcterms:created>
  <dcterms:modified xsi:type="dcterms:W3CDTF">2026-06-14T07:00:41Z</dcterms:modified>
</cp:coreProperties>
</file>